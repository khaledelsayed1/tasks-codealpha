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Inter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italic.fntdata"/><Relationship Id="rId30" Type="http://schemas.openxmlformats.org/officeDocument/2006/relationships/font" Target="fonts/Inter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Inter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33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42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9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22.png"/><Relationship Id="rId8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5.png"/><Relationship Id="rId9" Type="http://schemas.openxmlformats.org/officeDocument/2006/relationships/image" Target="../media/image28.png"/><Relationship Id="rId5" Type="http://schemas.openxmlformats.org/officeDocument/2006/relationships/image" Target="../media/image21.png"/><Relationship Id="rId6" Type="http://schemas.openxmlformats.org/officeDocument/2006/relationships/image" Target="../media/image46.png"/><Relationship Id="rId7" Type="http://schemas.openxmlformats.org/officeDocument/2006/relationships/image" Target="../media/image41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7" Type="http://schemas.openxmlformats.org/officeDocument/2006/relationships/image" Target="../media/image24.png"/><Relationship Id="rId8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34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3.png"/><Relationship Id="rId8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8.png"/><Relationship Id="rId5" Type="http://schemas.openxmlformats.org/officeDocument/2006/relationships/image" Target="../media/image40.png"/><Relationship Id="rId6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Relationship Id="rId6" Type="http://schemas.openxmlformats.org/officeDocument/2006/relationships/image" Target="../media/image47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715000" y="1995636"/>
            <a:ext cx="762000" cy="571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980610" y="2338536"/>
            <a:ext cx="6230778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PHISHING</a:t>
            </a: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AWARENESS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295650" y="3189982"/>
            <a:ext cx="5600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Building a Human Firewall Against Social Engineering Threats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867275" y="4256782"/>
            <a:ext cx="2457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PREPARED BY: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867275" y="4527202"/>
            <a:ext cx="2457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Khaled ElSayed ElSayed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880443"/>
            <a:ext cx="5238750" cy="3925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80443"/>
            <a:ext cx="5238750" cy="392578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62025" y="2690068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The Threat Vector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137743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Phishing is a highly deceptive cybersecurity exploit where bad actors masquerade as trusted entities (banks, administrators, service providers) to deceive targets.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3983384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primary goal is tricking users into sharing critical credentials, releasing confidential assets, or unknowingly deploying malicious payloads.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81775" y="2690068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Psychological Vulnerability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3137743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Attackers do not rely solely on technical exploits; they actively weaponize behavioral psychology. They exploit common triggers to bypass analytical thinking: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204293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204293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915150" y="4078634"/>
            <a:ext cx="4314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Urgency: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Fictional deadlines trigger reactive panic.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915150" y="4474815"/>
            <a:ext cx="4314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Fear: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Account closure threats bypass logic.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915150" y="4870995"/>
            <a:ext cx="43148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Authority: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Mimicking executive presence forces compliance.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411197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450815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4904333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What is Phishing?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934765"/>
            <a:ext cx="5238750" cy="381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676275" y="1944290"/>
            <a:ext cx="5219700" cy="98821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866775" y="2087165"/>
            <a:ext cx="4838700" cy="702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From:</a:t>
            </a:r>
            <a:r>
              <a:rPr b="0" i="0" lang="en-US" sz="9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IT Support Team &lt;</a:t>
            </a:r>
            <a:r>
              <a:rPr b="1" i="0" lang="en-US" sz="975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security-update-verification@web-domain-verify.com</a:t>
            </a:r>
            <a:r>
              <a:rPr b="0" i="0" lang="en-US" sz="9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To:</a:t>
            </a:r>
            <a:r>
              <a:rPr b="0" i="0" lang="en-US" sz="9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user@university.edu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Subject:</a:t>
            </a:r>
            <a:r>
              <a:rPr b="0" i="0" lang="en-US" sz="9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975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URGENT: Immediately Verify Account Credentials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676275" y="2922984"/>
            <a:ext cx="5219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76275" y="2932509"/>
            <a:ext cx="5219700" cy="2809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914400" y="3170634"/>
            <a:ext cx="4743450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Dear Valued User,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We have detected unusual sign-in activity on your internal account. To avoid complete account suspension, please verify your profile using the link below within 24 hours: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ACTIVATE SECURITY PROFILE NOW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Kind Regards,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Organizational Helpdesk System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286500" y="2358628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Key Detection Indicators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286500" y="2806303"/>
            <a:ext cx="5238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Even advanced spoofing contains noticeable errors. Look closer at this simulated mail: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619875" y="3408164"/>
            <a:ext cx="49053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Unrecognized Sender: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display text says "IT Support" but the actual email domain is an unverified outside URL.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619875" y="4048125"/>
            <a:ext cx="49053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Fear Tactics: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Forcing instant reaction by warning of immediate account suspension.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619875" y="4688085"/>
            <a:ext cx="49053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Vague Greetings: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Addressed to "Dear Valued User" instead of your actual profile name.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4415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081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721423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Anatomy of a Phishing Email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278558"/>
            <a:ext cx="3460700" cy="3129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575" y="2278558"/>
            <a:ext cx="3460700" cy="3129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278558"/>
            <a:ext cx="3460849" cy="312955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962025" y="3088183"/>
            <a:ext cx="301365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Spear Phishing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62025" y="3535858"/>
            <a:ext cx="28701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Highly customized, laser-targeted attacks. Bad actors scour public profiles (like LinkedIn) to extract context, names, and projects, designing a narrative that feels authentically local.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660850" y="3088183"/>
            <a:ext cx="301365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Smishing (SMS)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660850" y="3535858"/>
            <a:ext cx="287015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Attacks delivered via mobile text. Often mimics urgent delivery updates, unpaid tolls, or banking authorization errors. People react faster to SMS threats, making smishing highly effective.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359675" y="3088183"/>
            <a:ext cx="301381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Vishing (Voice)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359675" y="3535858"/>
            <a:ext cx="287029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Phishing via standard telephone paths. Attackers mimic authority bodies (helpdesk, fraud department, tax agency), utilizing caller ID spoofing and AI voice-cloning to manipulate targets.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60240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0850" y="2602408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602408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Common Attack Vectors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309101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5074" y="309101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28124" y="309101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2795736"/>
            <a:ext cx="3492549" cy="2624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49799" y="2795736"/>
            <a:ext cx="3492549" cy="2624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32849" y="2795736"/>
            <a:ext cx="3492549" cy="262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666750" y="2266205"/>
            <a:ext cx="108585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Business Email Compromise (BEC) uses social engineering rather than active malware to trigger massive financial wire transfers.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1752600" y="3033861"/>
            <a:ext cx="86868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962025" y="3710136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Reconnaissance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62025" y="4157811"/>
            <a:ext cx="2901999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Threat actors mapped the corporate organizational tree. They studied accounting processes and identified targeted high-level personnel.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645074" y="3710136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Impersonation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4645074" y="4157811"/>
            <a:ext cx="2901999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 attacker registered a domain one character off from the legitimate company domain, spoofing an urgent financial request from the CEO.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328124" y="3710136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Exploitation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328124" y="4157811"/>
            <a:ext cx="2901999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Trusting the look-alike address and CEO signature, accounting initiated multiple wire transfers, resulting in $40M lost before discovery.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Case Study: The $40M BEC Attack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607171"/>
            <a:ext cx="5334000" cy="1140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607171"/>
            <a:ext cx="5334000" cy="1140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938587"/>
            <a:ext cx="5334000" cy="1140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3938587"/>
            <a:ext cx="5334000" cy="114091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914400" y="2797671"/>
            <a:ext cx="514064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Sender Check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914400" y="3131046"/>
            <a:ext cx="48958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Look past the visible name. Click or tap on the sender email header. Check if the domain name precisely matches corporate naming rules.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438900" y="2797671"/>
            <a:ext cx="514064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Destination Review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438900" y="3131046"/>
            <a:ext cx="48958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Hover your cursor over embedded link buttons without clicking. Check the target web path in the preview window at the bottom of your screen.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14400" y="4129087"/>
            <a:ext cx="514064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Tone Alert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914400" y="4462462"/>
            <a:ext cx="48958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 the sender demanding immediate, non-standard actions? High-stress conditions are used intentionally to prevent you from calling to verify.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438900" y="4129087"/>
            <a:ext cx="514064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File Inspection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438900" y="4462462"/>
            <a:ext cx="48958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Never open attachments requiring macro permissions. Verify unexpected invoices or payroll documents through secondary channels first.</a:t>
            </a:r>
            <a:endParaRPr/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845296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38900" y="2845296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41767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38900" y="4176712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Detection Checklist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472779"/>
            <a:ext cx="5238750" cy="27411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72779"/>
            <a:ext cx="5238750" cy="274111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805814" y="2920454"/>
            <a:ext cx="49606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Official Domain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23925" y="3396704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portal.university.edu/login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425564" y="2920454"/>
            <a:ext cx="49606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Typosquatted Domain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543675" y="3396704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portal-university-edu.com/login</a:t>
            </a:r>
            <a:endParaRPr/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09925" y="274900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1257300" y="3768179"/>
            <a:ext cx="43910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Authentically owned by the official institution.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1257300" y="4164359"/>
            <a:ext cx="43910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Follows precise sub-domain tree structure.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1257300" y="4560540"/>
            <a:ext cx="43910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Connected directly to primary systems.</a:t>
            </a:r>
            <a:endParaRPr/>
          </a:p>
        </p:txBody>
      </p:sp>
      <p:pic>
        <p:nvPicPr>
          <p:cNvPr descr="image.png" id="206" name="Google Shape;20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29675" y="274900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6877050" y="3768179"/>
            <a:ext cx="43910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Hyphens replace subdomains to fool users.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877050" y="4164359"/>
            <a:ext cx="43910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Root domain is registered on public generic spaces.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877050" y="4560540"/>
            <a:ext cx="43910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Hosted on external servers to steal tokens.</a:t>
            </a:r>
            <a:endParaRPr/>
          </a:p>
        </p:txBody>
      </p:sp>
      <p:pic>
        <p:nvPicPr>
          <p:cNvPr descr="image.png" id="210" name="Google Shape;21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380151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419769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459387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43675" y="3801516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43675" y="4197697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43675" y="4593877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Deceptive Domain Tricks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278558"/>
            <a:ext cx="3460700" cy="3129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575" y="2278558"/>
            <a:ext cx="3460700" cy="3129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278558"/>
            <a:ext cx="3460849" cy="312955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962025" y="3088183"/>
            <a:ext cx="301365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MFA Protection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962025" y="3535858"/>
            <a:ext cx="287015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Enforce Multi-Factor Authentication everywhere. Even if bad actors capture your password, modern physical keys or app authentication push tokens can block unauthorized account access.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4660850" y="3088183"/>
            <a:ext cx="301365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Out-of-Band Check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4660850" y="3535858"/>
            <a:ext cx="28701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Validate suspicious requests through a secondary channel. Contact the sender using their official office directory number rather than using the phone numbers listed inside the suspicious email.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8359675" y="3088183"/>
            <a:ext cx="301381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Reporting Plugin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8359675" y="3535858"/>
            <a:ext cx="287029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Use your mail client's "Report Phishing" button. This sends raw header data to safety engineers, helping update spam filters globally to block active threats across the institution.</a:t>
            </a:r>
            <a:endParaRPr/>
          </a:p>
        </p:txBody>
      </p:sp>
      <p:pic>
        <p:nvPicPr>
          <p:cNvPr descr="image.png" id="231" name="Google Shape;23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60240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0850" y="2602408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602408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Defense-in-Depth Strategy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490936"/>
            <a:ext cx="5238750" cy="2704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490936"/>
            <a:ext cx="5238750" cy="270465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962025" y="3157686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Case A: Late-Night HR Alert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962025" y="3605361"/>
            <a:ext cx="46482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At 11:30 PM, you receive an email from "HR Department" saying your benefits document requires signature by morning or payroll will halt. It points to a custom sign-in link.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962025" y="4359473"/>
            <a:ext cx="46482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Action: Do not click. HR departments do not set critical deadlines at midnight or threaten payroll holds without warning.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581775" y="3157686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Case B: Shipping Alert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581775" y="3605361"/>
            <a:ext cx="46482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 SMS notification states: "Your parcel is suspended due to an incorrect home address. Pay an administrative adjustment fee of $1.50 at postal-address-verify.com."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6581775" y="4359473"/>
            <a:ext cx="46482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Action: Delete immediately. Standard parcel companies do not send SMS warnings or charge address update fees online.</a:t>
            </a:r>
            <a:endParaRPr/>
          </a:p>
        </p:txBody>
      </p:sp>
      <p:pic>
        <p:nvPicPr>
          <p:cNvPr descr="image.png" id="248" name="Google Shape;24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80526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80526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Scenario-Based Practice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46015"/>
            <a:ext cx="52387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331815"/>
            <a:ext cx="52387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160490"/>
            <a:ext cx="5238750" cy="880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279841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348421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666750" y="3196530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Knowledge Check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666750" y="3644205"/>
            <a:ext cx="52387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You receive an email declaring you won an internal service award. To secure the gift card, you are asked to click a link and log in with your institutional credentials. What is the correct response?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896100" y="2836515"/>
            <a:ext cx="2628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Log in immediately to claim the card.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6896100" y="3522315"/>
            <a:ext cx="3219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803D"/>
                </a:solidFill>
                <a:latin typeface="Inter Medium"/>
                <a:ea typeface="Inter Medium"/>
                <a:cs typeface="Inter Medium"/>
                <a:sym typeface="Inter Medium"/>
              </a:rPr>
              <a:t>Do not click. Report via the phishing system.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467475" y="4303365"/>
            <a:ext cx="49149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5803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Correct Response: B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6467475" y="4501455"/>
            <a:ext cx="49149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Official systems never require secondary credentials to access internal rewards or awards.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66750" y="47625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Interactive Challenge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/>
          <p:nvPr/>
        </p:nvSpPr>
        <p:spPr>
          <a:xfrm>
            <a:off x="5715000" y="2182266"/>
            <a:ext cx="762000" cy="5715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2405538" y="2525166"/>
            <a:ext cx="7380922" cy="52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 ARE THE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HUMAN FIREWALL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3281362" y="3288952"/>
            <a:ext cx="5629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Think Before You Click. Stay Alert. Report Suspicious Activity.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4867275" y="4070002"/>
            <a:ext cx="2457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PREPARED BY: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4867275" y="4340423"/>
            <a:ext cx="2457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Khaled ElSayed ElSayed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